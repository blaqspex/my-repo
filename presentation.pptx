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73" r:id="rId5"/>
    <p:sldId id="275" r:id="rId6"/>
    <p:sldId id="277" r:id="rId7"/>
    <p:sldId id="280" r:id="rId8"/>
    <p:sldId id="281" r:id="rId9"/>
    <p:sldId id="282" r:id="rId10"/>
    <p:sldId id="279" r:id="rId11"/>
    <p:sldId id="283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284" r:id="rId20"/>
    <p:sldId id="276" r:id="rId21"/>
    <p:sldId id="278" r:id="rId22"/>
    <p:sldId id="292" r:id="rId23"/>
    <p:sldId id="285" r:id="rId24"/>
    <p:sldId id="274" r:id="rId2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DC5"/>
    <a:srgbClr val="D8BEB2"/>
    <a:srgbClr val="753F2D"/>
    <a:srgbClr val="5E3324"/>
    <a:srgbClr val="8A4C34"/>
    <a:srgbClr val="815550"/>
    <a:srgbClr val="A3573E"/>
    <a:srgbClr val="E7E6E6"/>
    <a:srgbClr val="C28D6D"/>
    <a:srgbClr val="D298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2"/>
    <p:restoredTop sz="96327"/>
  </p:normalViewPr>
  <p:slideViewPr>
    <p:cSldViewPr snapToGrid="0">
      <p:cViewPr varScale="1">
        <p:scale>
          <a:sx n="75" d="100"/>
          <a:sy n="75" d="100"/>
        </p:scale>
        <p:origin x="77" y="58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dipto Debsarma" userId="061219085c4aa3e7" providerId="LiveId" clId="{5912D057-5059-4969-8FF0-C24D10F19AB9}"/>
    <pc:docChg chg="modSld">
      <pc:chgData name="Prodipto Debsarma" userId="061219085c4aa3e7" providerId="LiveId" clId="{5912D057-5059-4969-8FF0-C24D10F19AB9}" dt="2025-04-23T18:57:23.681" v="21" actId="1076"/>
      <pc:docMkLst>
        <pc:docMk/>
      </pc:docMkLst>
      <pc:sldChg chg="modSp mod">
        <pc:chgData name="Prodipto Debsarma" userId="061219085c4aa3e7" providerId="LiveId" clId="{5912D057-5059-4969-8FF0-C24D10F19AB9}" dt="2025-04-23T18:55:39.241" v="8" actId="1076"/>
        <pc:sldMkLst>
          <pc:docMk/>
          <pc:sldMk cId="226236345" sldId="274"/>
        </pc:sldMkLst>
        <pc:spChg chg="mod">
          <ac:chgData name="Prodipto Debsarma" userId="061219085c4aa3e7" providerId="LiveId" clId="{5912D057-5059-4969-8FF0-C24D10F19AB9}" dt="2025-04-23T18:53:50.566" v="6" actId="255"/>
          <ac:spMkLst>
            <pc:docMk/>
            <pc:sldMk cId="226236345" sldId="274"/>
            <ac:spMk id="2" creationId="{11464AE1-C6FD-2EFB-79A7-7C9A6C853EF8}"/>
          </ac:spMkLst>
        </pc:spChg>
        <pc:spChg chg="mod">
          <ac:chgData name="Prodipto Debsarma" userId="061219085c4aa3e7" providerId="LiveId" clId="{5912D057-5059-4969-8FF0-C24D10F19AB9}" dt="2025-04-23T18:55:39.241" v="8" actId="1076"/>
          <ac:spMkLst>
            <pc:docMk/>
            <pc:sldMk cId="226236345" sldId="274"/>
            <ac:spMk id="6" creationId="{78A34E14-4610-E766-F481-F49FD24DB8EF}"/>
          </ac:spMkLst>
        </pc:spChg>
        <pc:picChg chg="mod">
          <ac:chgData name="Prodipto Debsarma" userId="061219085c4aa3e7" providerId="LiveId" clId="{5912D057-5059-4969-8FF0-C24D10F19AB9}" dt="2025-04-23T18:54:03.612" v="7" actId="1076"/>
          <ac:picMkLst>
            <pc:docMk/>
            <pc:sldMk cId="226236345" sldId="274"/>
            <ac:picMk id="5" creationId="{5168A733-F9EC-CD2F-E6B4-53436C1B1701}"/>
          </ac:picMkLst>
        </pc:picChg>
      </pc:sldChg>
      <pc:sldChg chg="modSp mod">
        <pc:chgData name="Prodipto Debsarma" userId="061219085c4aa3e7" providerId="LiveId" clId="{5912D057-5059-4969-8FF0-C24D10F19AB9}" dt="2025-04-23T18:55:58.091" v="9" actId="1076"/>
        <pc:sldMkLst>
          <pc:docMk/>
          <pc:sldMk cId="73848494" sldId="278"/>
        </pc:sldMkLst>
        <pc:spChg chg="mod">
          <ac:chgData name="Prodipto Debsarma" userId="061219085c4aa3e7" providerId="LiveId" clId="{5912D057-5059-4969-8FF0-C24D10F19AB9}" dt="2025-04-23T18:55:58.091" v="9" actId="1076"/>
          <ac:spMkLst>
            <pc:docMk/>
            <pc:sldMk cId="73848494" sldId="278"/>
            <ac:spMk id="2" creationId="{A052E563-D2B2-A0AD-3574-E8C8FDCE3DAC}"/>
          </ac:spMkLst>
        </pc:spChg>
      </pc:sldChg>
      <pc:sldChg chg="modSp mod">
        <pc:chgData name="Prodipto Debsarma" userId="061219085c4aa3e7" providerId="LiveId" clId="{5912D057-5059-4969-8FF0-C24D10F19AB9}" dt="2025-04-23T18:56:50.586" v="18" actId="1076"/>
        <pc:sldMkLst>
          <pc:docMk/>
          <pc:sldMk cId="114431578" sldId="293"/>
        </pc:sldMkLst>
        <pc:picChg chg="mod">
          <ac:chgData name="Prodipto Debsarma" userId="061219085c4aa3e7" providerId="LiveId" clId="{5912D057-5059-4969-8FF0-C24D10F19AB9}" dt="2025-04-23T18:56:50.586" v="18" actId="1076"/>
          <ac:picMkLst>
            <pc:docMk/>
            <pc:sldMk cId="114431578" sldId="293"/>
            <ac:picMk id="5" creationId="{7FEB17FE-554D-938C-F920-DBEC3235297D}"/>
          </ac:picMkLst>
        </pc:picChg>
      </pc:sldChg>
      <pc:sldChg chg="modSp mod">
        <pc:chgData name="Prodipto Debsarma" userId="061219085c4aa3e7" providerId="LiveId" clId="{5912D057-5059-4969-8FF0-C24D10F19AB9}" dt="2025-04-23T18:56:56.301" v="19" actId="1076"/>
        <pc:sldMkLst>
          <pc:docMk/>
          <pc:sldMk cId="1550185643" sldId="294"/>
        </pc:sldMkLst>
        <pc:picChg chg="mod">
          <ac:chgData name="Prodipto Debsarma" userId="061219085c4aa3e7" providerId="LiveId" clId="{5912D057-5059-4969-8FF0-C24D10F19AB9}" dt="2025-04-23T18:56:56.301" v="19" actId="1076"/>
          <ac:picMkLst>
            <pc:docMk/>
            <pc:sldMk cId="1550185643" sldId="294"/>
            <ac:picMk id="5" creationId="{E699A5D8-7335-59A1-16FF-C09D464DFD71}"/>
          </ac:picMkLst>
        </pc:picChg>
      </pc:sldChg>
      <pc:sldChg chg="modSp mod">
        <pc:chgData name="Prodipto Debsarma" userId="061219085c4aa3e7" providerId="LiveId" clId="{5912D057-5059-4969-8FF0-C24D10F19AB9}" dt="2025-04-23T18:57:05.151" v="20" actId="1076"/>
        <pc:sldMkLst>
          <pc:docMk/>
          <pc:sldMk cId="3673402313" sldId="295"/>
        </pc:sldMkLst>
        <pc:picChg chg="mod">
          <ac:chgData name="Prodipto Debsarma" userId="061219085c4aa3e7" providerId="LiveId" clId="{5912D057-5059-4969-8FF0-C24D10F19AB9}" dt="2025-04-23T18:57:05.151" v="20" actId="1076"/>
          <ac:picMkLst>
            <pc:docMk/>
            <pc:sldMk cId="3673402313" sldId="295"/>
            <ac:picMk id="5" creationId="{02C1F1D5-D5A7-C8F6-A680-F8E091D0DDED}"/>
          </ac:picMkLst>
        </pc:picChg>
      </pc:sldChg>
      <pc:sldChg chg="modSp mod">
        <pc:chgData name="Prodipto Debsarma" userId="061219085c4aa3e7" providerId="LiveId" clId="{5912D057-5059-4969-8FF0-C24D10F19AB9}" dt="2025-04-23T18:56:40.011" v="17" actId="1076"/>
        <pc:sldMkLst>
          <pc:docMk/>
          <pc:sldMk cId="370150378" sldId="296"/>
        </pc:sldMkLst>
        <pc:picChg chg="mod">
          <ac:chgData name="Prodipto Debsarma" userId="061219085c4aa3e7" providerId="LiveId" clId="{5912D057-5059-4969-8FF0-C24D10F19AB9}" dt="2025-04-23T18:56:40.011" v="17" actId="1076"/>
          <ac:picMkLst>
            <pc:docMk/>
            <pc:sldMk cId="370150378" sldId="296"/>
            <ac:picMk id="5" creationId="{9EEC7066-49A3-1384-3497-81A3FAB20F3D}"/>
          </ac:picMkLst>
        </pc:picChg>
      </pc:sldChg>
      <pc:sldChg chg="modSp mod">
        <pc:chgData name="Prodipto Debsarma" userId="061219085c4aa3e7" providerId="LiveId" clId="{5912D057-5059-4969-8FF0-C24D10F19AB9}" dt="2025-04-23T18:56:35.731" v="16" actId="1076"/>
        <pc:sldMkLst>
          <pc:docMk/>
          <pc:sldMk cId="4212746553" sldId="297"/>
        </pc:sldMkLst>
        <pc:picChg chg="mod">
          <ac:chgData name="Prodipto Debsarma" userId="061219085c4aa3e7" providerId="LiveId" clId="{5912D057-5059-4969-8FF0-C24D10F19AB9}" dt="2025-04-23T18:56:35.731" v="16" actId="1076"/>
          <ac:picMkLst>
            <pc:docMk/>
            <pc:sldMk cId="4212746553" sldId="297"/>
            <ac:picMk id="5" creationId="{26F97D95-7112-DC45-5A0C-EF304A9647A4}"/>
          </ac:picMkLst>
        </pc:picChg>
      </pc:sldChg>
      <pc:sldChg chg="modSp mod">
        <pc:chgData name="Prodipto Debsarma" userId="061219085c4aa3e7" providerId="LiveId" clId="{5912D057-5059-4969-8FF0-C24D10F19AB9}" dt="2025-04-23T18:56:27.646" v="15" actId="1076"/>
        <pc:sldMkLst>
          <pc:docMk/>
          <pc:sldMk cId="1360453188" sldId="298"/>
        </pc:sldMkLst>
        <pc:picChg chg="mod">
          <ac:chgData name="Prodipto Debsarma" userId="061219085c4aa3e7" providerId="LiveId" clId="{5912D057-5059-4969-8FF0-C24D10F19AB9}" dt="2025-04-23T18:56:27.646" v="15" actId="1076"/>
          <ac:picMkLst>
            <pc:docMk/>
            <pc:sldMk cId="1360453188" sldId="298"/>
            <ac:picMk id="5" creationId="{D0E9BD57-3D44-6EAF-17E4-8716065C8D83}"/>
          </ac:picMkLst>
        </pc:picChg>
      </pc:sldChg>
      <pc:sldChg chg="modSp mod">
        <pc:chgData name="Prodipto Debsarma" userId="061219085c4aa3e7" providerId="LiveId" clId="{5912D057-5059-4969-8FF0-C24D10F19AB9}" dt="2025-04-23T18:57:23.681" v="21" actId="1076"/>
        <pc:sldMkLst>
          <pc:docMk/>
          <pc:sldMk cId="208910435" sldId="299"/>
        </pc:sldMkLst>
        <pc:picChg chg="mod">
          <ac:chgData name="Prodipto Debsarma" userId="061219085c4aa3e7" providerId="LiveId" clId="{5912D057-5059-4969-8FF0-C24D10F19AB9}" dt="2025-04-23T18:57:23.681" v="21" actId="1076"/>
          <ac:picMkLst>
            <pc:docMk/>
            <pc:sldMk cId="208910435" sldId="299"/>
            <ac:picMk id="5" creationId="{823B73F0-2853-7AC2-1333-91E47A3A297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4/24/2025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3243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313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32" y="857251"/>
            <a:ext cx="6878497" cy="3098061"/>
          </a:xfrm>
        </p:spPr>
        <p:txBody>
          <a:bodyPr anchor="b">
            <a:normAutofit/>
          </a:bodyPr>
          <a:lstStyle/>
          <a:p>
            <a:r>
              <a:rPr lang="en-US" sz="5000" b="1" dirty="0">
                <a:solidFill>
                  <a:srgbClr val="FFFFFF"/>
                </a:solidFill>
              </a:rPr>
              <a:t>ONLINE</a:t>
            </a:r>
            <a:br>
              <a:rPr lang="en-US" sz="4800" b="1" dirty="0"/>
            </a:br>
            <a:r>
              <a:rPr lang="en-US" sz="7500" b="1" dirty="0"/>
              <a:t>bookstore</a:t>
            </a:r>
            <a:br>
              <a:rPr lang="en-US" sz="4800" b="1" dirty="0"/>
            </a:br>
            <a:r>
              <a:rPr lang="en-US" sz="5000" b="1" dirty="0">
                <a:solidFill>
                  <a:srgbClr val="FFFFFF"/>
                </a:solidFill>
              </a:rPr>
              <a:t>DATABASE</a:t>
            </a:r>
            <a:endParaRPr lang="en-US" sz="5000" b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Prodipto Debsarma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152BDF-A3B8-4EC0-EF78-893F5DB26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559" y="2562581"/>
            <a:ext cx="3737164" cy="174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Project Purpose</a:t>
            </a:r>
            <a:endParaRPr lang="en-US" b="1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🔥 </a:t>
            </a:r>
            <a:r>
              <a:rPr lang="en-US" dirty="0">
                <a:ea typeface="+mn-lt"/>
                <a:cs typeface="+mn-lt"/>
              </a:rPr>
              <a:t>Replace outdated manual tracking methods</a:t>
            </a:r>
            <a:endParaRPr lang="en-US" dirty="0">
              <a:cs typeface="Arial"/>
            </a:endParaRPr>
          </a:p>
          <a:p>
            <a:r>
              <a:rPr lang="en-US" b="0" dirty="0">
                <a:ea typeface="+mn-lt"/>
                <a:cs typeface="+mn-lt"/>
              </a:rPr>
              <a:t>🔥 </a:t>
            </a:r>
            <a:r>
              <a:rPr lang="en-US" dirty="0"/>
              <a:t>Centralize management of books, customers, orders, payments, inventory</a:t>
            </a:r>
            <a:endParaRPr lang="en-US" noProof="0">
              <a:cs typeface="Arial"/>
            </a:endParaRPr>
          </a:p>
          <a:p>
            <a:r>
              <a:rPr lang="en-US" b="0" dirty="0">
                <a:ea typeface="+mn-lt"/>
                <a:cs typeface="+mn-lt"/>
              </a:rPr>
              <a:t>🔥 </a:t>
            </a:r>
            <a:r>
              <a:rPr lang="en-US" dirty="0"/>
              <a:t>Enable data-driven insights to improve customer experience &amp; business operations</a:t>
            </a:r>
            <a:endParaRPr lang="en-US" b="0" i="1">
              <a:cs typeface="Arial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dirty="0">
              <a:cs typeface="Arial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🤔 </a:t>
            </a:r>
            <a:r>
              <a:rPr lang="en-US" dirty="0"/>
              <a:t>Stock shortages &amp; delayed deliveries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8208" y="4018280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🤔 </a:t>
            </a:r>
            <a:r>
              <a:rPr lang="en-US" dirty="0"/>
              <a:t>No real-time order or inventory tracking</a:t>
            </a:r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CA623AD-FBA8-B4A0-976B-CA426D9ED514}"/>
              </a:ext>
            </a:extLst>
          </p:cNvPr>
          <p:cNvSpPr txBox="1">
            <a:spLocks/>
          </p:cNvSpPr>
          <p:nvPr/>
        </p:nvSpPr>
        <p:spPr>
          <a:xfrm>
            <a:off x="649224" y="5044440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ea typeface="+mn-lt"/>
                <a:cs typeface="+mn-lt"/>
              </a:rPr>
              <a:t>🤔 </a:t>
            </a:r>
            <a:r>
              <a:rPr lang="en-US" dirty="0"/>
              <a:t>No analytics to understand customer behavior or sales trends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SOLUTIONS</a:t>
            </a:r>
            <a:endParaRPr lang="en-US" b="1" dirty="0">
              <a:cs typeface="Arial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💡 </a:t>
            </a:r>
            <a:r>
              <a:rPr lang="en-US" dirty="0"/>
              <a:t>A relational DBMS to handle all bookstore operations</a:t>
            </a:r>
            <a:endParaRPr lang="en-US" b="0">
              <a:solidFill>
                <a:srgbClr val="000000"/>
              </a:solidFill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3870-8786-7090-C9CF-E1E30DC7B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187192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💡 </a:t>
            </a:r>
            <a:r>
              <a:rPr lang="en-US" dirty="0"/>
              <a:t>Efficient order processing and inventory updates</a:t>
            </a:r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8376C1D-FC3F-F176-1668-FA7FBA549F9C}"/>
              </a:ext>
            </a:extLst>
          </p:cNvPr>
          <p:cNvSpPr txBox="1">
            <a:spLocks/>
          </p:cNvSpPr>
          <p:nvPr/>
        </p:nvSpPr>
        <p:spPr>
          <a:xfrm>
            <a:off x="6247384" y="4831080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ea typeface="+mn-lt"/>
                <a:cs typeface="+mn-lt"/>
              </a:rPr>
              <a:t>💡 </a:t>
            </a:r>
            <a:r>
              <a:rPr lang="en-US" dirty="0"/>
              <a:t>Automated alerts, reporting and customer engagement features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04" y="1828800"/>
            <a:ext cx="4974772" cy="575321"/>
          </a:xfrm>
        </p:spPr>
        <p:txBody>
          <a:bodyPr/>
          <a:lstStyle/>
          <a:p>
            <a:r>
              <a:rPr lang="en-US" b="1" dirty="0"/>
              <a:t>Entity-Relationship </a:t>
            </a:r>
            <a:r>
              <a:rPr lang="en-US" b="1" dirty="0">
                <a:solidFill>
                  <a:schemeClr val="tx1"/>
                </a:solidFill>
              </a:rPr>
              <a:t>Diagram</a:t>
            </a: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 descr="A diagram of a customer&#10;&#10;AI-generated content may be incorrect.">
            <a:extLst>
              <a:ext uri="{FF2B5EF4-FFF2-40B4-BE49-F238E27FC236}">
                <a16:creationId xmlns:a16="http://schemas.microsoft.com/office/drawing/2014/main" id="{F138BF5A-3C8A-A1F7-4781-91D73F05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97" y="1458685"/>
            <a:ext cx="5188702" cy="47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10AA-DDBA-D5A2-A34D-69E21671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TABLES</a:t>
            </a:r>
            <a:endParaRPr lang="en-US" b="1">
              <a:cs typeface="Arial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757D-D960-563E-13D7-10BC6A041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92096" y="2971800"/>
            <a:ext cx="4858512" cy="276637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🧱</a:t>
            </a:r>
            <a:r>
              <a:rPr lang="en-US" b="0" dirty="0"/>
              <a:t> </a:t>
            </a:r>
            <a:r>
              <a:rPr lang="en-US" dirty="0"/>
              <a:t>Book</a:t>
            </a:r>
            <a:endParaRPr lang="en-US" dirty="0">
              <a:cs typeface="Arial"/>
            </a:endParaRPr>
          </a:p>
          <a:p>
            <a:r>
              <a:rPr lang="en-US" b="0" dirty="0">
                <a:ea typeface="+mn-lt"/>
                <a:cs typeface="+mn-lt"/>
              </a:rPr>
              <a:t>🧱 </a:t>
            </a:r>
            <a:r>
              <a:rPr lang="en-US" dirty="0"/>
              <a:t>Customer</a:t>
            </a:r>
            <a:endParaRPr lang="en-US" dirty="0">
              <a:cs typeface="Arial"/>
            </a:endParaRPr>
          </a:p>
          <a:p>
            <a:r>
              <a:rPr lang="en-US" b="0" dirty="0">
                <a:ea typeface="+mn-lt"/>
                <a:cs typeface="+mn-lt"/>
              </a:rPr>
              <a:t>🧱 </a:t>
            </a:r>
            <a:r>
              <a:rPr lang="en-US" dirty="0">
                <a:cs typeface="Arial"/>
              </a:rPr>
              <a:t>Order</a:t>
            </a:r>
            <a:endParaRPr lang="en-US" dirty="0"/>
          </a:p>
          <a:p>
            <a:r>
              <a:rPr lang="en-US" b="0" dirty="0">
                <a:ea typeface="+mn-lt"/>
                <a:cs typeface="+mn-lt"/>
              </a:rPr>
              <a:t>🧱 </a:t>
            </a:r>
            <a:r>
              <a:rPr lang="en-US" dirty="0" err="1">
                <a:cs typeface="Arial"/>
              </a:rPr>
              <a:t>OrderItem</a:t>
            </a:r>
          </a:p>
          <a:p>
            <a:r>
              <a:rPr lang="en-US" b="0" dirty="0">
                <a:ea typeface="+mn-lt"/>
                <a:cs typeface="+mn-lt"/>
              </a:rPr>
              <a:t>🧱 </a:t>
            </a:r>
            <a:r>
              <a:rPr lang="en-US" dirty="0">
                <a:cs typeface="Arial"/>
              </a:rPr>
              <a:t>Payment</a:t>
            </a:r>
            <a:endParaRPr lang="en-US" dirty="0"/>
          </a:p>
          <a:p>
            <a:r>
              <a:rPr lang="en-US" b="0" dirty="0">
                <a:ea typeface="+mn-lt"/>
                <a:cs typeface="+mn-lt"/>
              </a:rPr>
              <a:t>🧱 </a:t>
            </a:r>
            <a:r>
              <a:rPr lang="en-US" dirty="0">
                <a:cs typeface="Arial"/>
              </a:rPr>
              <a:t>Review</a:t>
            </a:r>
            <a:endParaRPr lang="en-US" dirty="0"/>
          </a:p>
          <a:p>
            <a:r>
              <a:rPr lang="en-US" b="0" dirty="0">
                <a:ea typeface="+mn-lt"/>
                <a:cs typeface="+mn-lt"/>
              </a:rPr>
              <a:t>🧱 </a:t>
            </a:r>
            <a:r>
              <a:rPr lang="en-US" dirty="0">
                <a:ea typeface="+mn-lt"/>
                <a:cs typeface="+mn-lt"/>
              </a:rPr>
              <a:t>Author</a:t>
            </a:r>
            <a:endParaRPr lang="en-US" dirty="0"/>
          </a:p>
          <a:p>
            <a:r>
              <a:rPr lang="en-US" b="0" dirty="0">
                <a:ea typeface="+mn-lt"/>
                <a:cs typeface="+mn-lt"/>
              </a:rPr>
              <a:t>🧱 </a:t>
            </a:r>
            <a:r>
              <a:rPr lang="en-US" dirty="0">
                <a:ea typeface="+mn-lt"/>
                <a:cs typeface="+mn-lt"/>
              </a:rPr>
              <a:t>Category</a:t>
            </a:r>
            <a:endParaRPr lang="en-US" dirty="0"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2C4D-3F97-1652-3A4A-C989986D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Special Features</a:t>
            </a:r>
            <a:endParaRPr lang="en-US" b="1">
              <a:cs typeface="Arial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C1259C-0A50-37A0-081E-E36D391D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6911-B582-CB5C-914D-58A0AE6AB7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👉 </a:t>
            </a:r>
            <a:r>
              <a:rPr lang="en-US" dirty="0">
                <a:ea typeface="+mn-lt"/>
                <a:cs typeface="+mn-lt"/>
              </a:rPr>
              <a:t>Triggers for stock updates &amp; payment validation</a:t>
            </a:r>
            <a:endParaRPr lang="en-US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49C3E-AD51-081C-CB26-BA65EB17C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2486152"/>
            <a:ext cx="4828032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👉 </a:t>
            </a:r>
            <a:r>
              <a:rPr lang="en-US" dirty="0">
                <a:ea typeface="+mn-lt"/>
                <a:cs typeface="+mn-lt"/>
              </a:rPr>
              <a:t>Views for top-selling books, customer activity, category revenue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dirty="0"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7336BA-9105-F53E-D702-2BCBD0539206}"/>
              </a:ext>
            </a:extLst>
          </p:cNvPr>
          <p:cNvSpPr txBox="1">
            <a:spLocks/>
          </p:cNvSpPr>
          <p:nvPr/>
        </p:nvSpPr>
        <p:spPr>
          <a:xfrm>
            <a:off x="6245352" y="5300472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ea typeface="+mn-lt"/>
                <a:cs typeface="+mn-lt"/>
              </a:rPr>
              <a:t>👉 </a:t>
            </a:r>
            <a:r>
              <a:rPr lang="en-US" dirty="0">
                <a:ea typeface="+mn-lt"/>
                <a:cs typeface="+mn-lt"/>
              </a:rPr>
              <a:t>Prevents negative stock and unpaid order shipping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B2CBE2-F6BF-DB8F-E708-44E4FB4B70F8}"/>
              </a:ext>
            </a:extLst>
          </p:cNvPr>
          <p:cNvSpPr txBox="1">
            <a:spLocks/>
          </p:cNvSpPr>
          <p:nvPr/>
        </p:nvSpPr>
        <p:spPr>
          <a:xfrm>
            <a:off x="6245352" y="3898391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ea typeface="+mn-lt"/>
                <a:cs typeface="+mn-lt"/>
              </a:rPr>
              <a:t>👉 </a:t>
            </a:r>
            <a:r>
              <a:rPr lang="en-US" dirty="0">
                <a:ea typeface="+mn-lt"/>
                <a:cs typeface="+mn-lt"/>
              </a:rPr>
              <a:t>Scheduled processes for low-stock alerts &amp; monthly sales summaries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85805-79DB-07ED-6BDE-11B8962D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SQL Queries</a:t>
            </a:r>
            <a:b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A3CB1-AF25-EA4C-A297-4DDC6E0E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C7CBA-BE77-048A-DED3-BCCB5936C5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8584" y="2980944"/>
            <a:ext cx="11187176" cy="18176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Arial"/>
              </a:rPr>
              <a:t>🤔 Retrieve Books in "Fiction" Category That Are In Stock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cs typeface="Arial"/>
              </a:rPr>
              <a:t>🤔 Top 3 Best-Selling Books of the Year</a:t>
            </a:r>
          </a:p>
          <a:p>
            <a:r>
              <a:rPr lang="en-US" dirty="0">
                <a:cs typeface="Arial"/>
              </a:rPr>
              <a:t>🤔 Books with No Purchases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cs typeface="Arial"/>
              </a:rPr>
              <a:t>🤔 Total Revenue per Book Category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cs typeface="Arial"/>
              </a:rPr>
              <a:t>🤔 Average rating of books with at least 10 reviews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cs typeface="Arial"/>
              </a:rPr>
              <a:t>🤔 Orders that include at least one book from the 'Science &amp; Technology' category</a:t>
            </a:r>
          </a:p>
          <a:p>
            <a:r>
              <a:rPr lang="en-US" dirty="0">
                <a:cs typeface="Arial"/>
              </a:rPr>
              <a:t>🤔 Pending orders with customer contact 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64F135-CFB9-E75F-27F4-3FFBAB37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Retrieve Books in "Fiction" Category That Are In Stock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EB17FE-554D-938C-F920-DBEC32352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878" y="2155981"/>
            <a:ext cx="6780700" cy="216982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A5DAF7-6F89-684B-4449-A43EEA19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71BCCF-8A39-393F-314A-2CB37411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noProof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3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57961-8ED5-E554-1463-AE374DA6A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dirty="0">
                <a:solidFill>
                  <a:srgbClr val="FFFFFF"/>
                </a:solidFill>
                <a:cs typeface="Arial"/>
              </a:rPr>
              <a:t>Top 3 Best-Selling Books of the Year</a:t>
            </a:r>
            <a:endParaRPr lang="en-US" sz="2000" kern="1200" dirty="0">
              <a:solidFill>
                <a:srgbClr val="FFFFFF"/>
              </a:solidFill>
              <a:latin typeface="+mj-lt"/>
              <a:cs typeface="Arial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99A5D8-7335-59A1-16FF-C09D464DF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878" y="1605051"/>
            <a:ext cx="6780700" cy="327168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7475-DE97-DC16-3F00-2B2405D6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CB2C0-10C2-6A80-B79C-45A6AF30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noProof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185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0C7D83-6AC4-6723-1724-06AFA6B3F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Books with No Purchases</a:t>
            </a:r>
            <a:endParaRPr lang="en-US" sz="2000" b="1" kern="1200" dirty="0">
              <a:solidFill>
                <a:srgbClr val="FFFFFF"/>
              </a:solidFill>
              <a:latin typeface="+mj-lt"/>
              <a:cs typeface="Arial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C1F1D5-D5A7-C8F6-A680-F8E091D0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878" y="1249063"/>
            <a:ext cx="6780700" cy="398366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D186E4-C02D-9D92-90B9-147CB82B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A78B07-5140-A32C-3F98-5DFB8309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noProof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402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F72922-D2E3-96EC-DCF5-8611207A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Revenue per Book Category</a:t>
            </a:r>
            <a:endParaRPr lang="en-US" sz="2000" b="1" kern="1200" dirty="0">
              <a:solidFill>
                <a:srgbClr val="FFFFFF"/>
              </a:solidFill>
              <a:latin typeface="+mj-lt"/>
              <a:cs typeface="Arial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EC7066-49A3-1384-3497-81A3FAB20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878" y="1757615"/>
            <a:ext cx="6780700" cy="296655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C030D3-6C38-6900-7EE4-17714E7C7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E53FDD-DC8E-8C35-B25C-6FE6C301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noProof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50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42F55F-7E9E-C585-6A29-DA7E54E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Average rating of books with at least 10 reviews</a:t>
            </a:r>
            <a:endParaRPr lang="en-US" sz="2000" kern="1200" dirty="0">
              <a:solidFill>
                <a:srgbClr val="FFFFFF"/>
              </a:solidFill>
              <a:latin typeface="+mj-lt"/>
              <a:cs typeface="Arial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F97D95-7112-DC45-5A0C-EF304A96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878" y="2317024"/>
            <a:ext cx="6780700" cy="184774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E308BD-B565-0C16-CFAF-02AB363C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AD9888-AB00-9350-7812-58578A60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noProof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746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E606BC-FF84-27E3-0901-866C0D475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Orders that include at least one book from the 'Science &amp; Technology' category</a:t>
            </a:r>
            <a:endParaRPr lang="en-US" sz="2000" kern="1200" dirty="0">
              <a:solidFill>
                <a:srgbClr val="FFFFFF"/>
              </a:solidFill>
              <a:latin typeface="+mj-lt"/>
              <a:cs typeface="Arial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E9BD57-3D44-6EAF-17E4-8716065C8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878" y="2028844"/>
            <a:ext cx="6780700" cy="242409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2D2464-1DAE-AA52-3FA8-695159C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1402-01D0-F4A8-6801-818B6575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noProof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453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464C81-AA4D-516E-EB12-91860B87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Pending orders with customer contact </a:t>
            </a:r>
            <a:endParaRPr lang="en-US" sz="2000" kern="1200" dirty="0">
              <a:solidFill>
                <a:srgbClr val="FFFFFF"/>
              </a:solidFill>
              <a:latin typeface="+mj-lt"/>
              <a:cs typeface="Arial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3B73F0-2853-7AC2-1333-91E47A3A2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878" y="1749140"/>
            <a:ext cx="6780700" cy="298350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71C009-2285-872D-577B-E6AF1EE8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025B1-723B-CD62-C3A4-0CB57E71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noProof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10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B323-62C7-96CA-30CF-8976E6BE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Automation &amp; Data Integrity</a:t>
            </a:r>
            <a:endParaRPr lang="en-US" b="1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85EE0-4210-EC59-3B1F-9950A0B00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1012" y="3428382"/>
            <a:ext cx="8840038" cy="32965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👉</a:t>
            </a:r>
            <a:r>
              <a:rPr lang="en-US" b="0" dirty="0">
                <a:latin typeface="Arial"/>
                <a:cs typeface="Arial"/>
              </a:rPr>
              <a:t> </a:t>
            </a:r>
            <a:r>
              <a:rPr lang="en-US" dirty="0">
                <a:latin typeface="Consolas"/>
              </a:rPr>
              <a:t>BEFORE INSERT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dirty="0">
                <a:latin typeface="Consolas"/>
              </a:rPr>
              <a:t>AFTER UPDATE</a:t>
            </a:r>
            <a:r>
              <a:rPr lang="en-US" dirty="0">
                <a:ea typeface="+mn-lt"/>
                <a:cs typeface="+mn-lt"/>
              </a:rPr>
              <a:t> triggers</a:t>
            </a:r>
            <a:endParaRPr lang="en-US">
              <a:cs typeface="Arial"/>
            </a:endParaRPr>
          </a:p>
          <a:p>
            <a:r>
              <a:rPr lang="en-US" b="0" dirty="0">
                <a:ea typeface="+mn-lt"/>
                <a:cs typeface="+mn-lt"/>
              </a:rPr>
              <a:t>👉 </a:t>
            </a:r>
            <a:r>
              <a:rPr lang="en-US" dirty="0">
                <a:ea typeface="+mn-lt"/>
                <a:cs typeface="+mn-lt"/>
              </a:rPr>
              <a:t>Real-time inventory adjustments</a:t>
            </a:r>
            <a:endParaRPr lang="en-US" dirty="0">
              <a:cs typeface="Arial"/>
            </a:endParaRPr>
          </a:p>
          <a:p>
            <a:r>
              <a:rPr lang="en-US" b="0">
                <a:ea typeface="+mn-lt"/>
                <a:cs typeface="+mn-lt"/>
              </a:rPr>
              <a:t>👉 </a:t>
            </a:r>
            <a:r>
              <a:rPr lang="en-US">
                <a:ea typeface="+mn-lt"/>
                <a:cs typeface="+mn-lt"/>
              </a:rPr>
              <a:t>Daily and monthly scheduled reports</a:t>
            </a:r>
            <a:endParaRPr lang="en-US">
              <a:cs typeface="Arial"/>
            </a:endParaRPr>
          </a:p>
          <a:p>
            <a:r>
              <a:rPr lang="en-US" b="0" dirty="0">
                <a:ea typeface="+mn-lt"/>
                <a:cs typeface="+mn-lt"/>
              </a:rPr>
              <a:t>👉 </a:t>
            </a:r>
            <a:r>
              <a:rPr lang="en-US" dirty="0">
                <a:ea typeface="+mn-lt"/>
                <a:cs typeface="+mn-lt"/>
              </a:rPr>
              <a:t>Integrity rules: No duplicate orders, no shipping unpaid items</a:t>
            </a:r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B7B00-55E7-4B7E-5B67-A1E76D4FE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D56CC9-46E3-BB9C-E3FD-A670C155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16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53568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C01-2837-2D71-254F-BAEEC669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Challenges &amp; Learnings</a:t>
            </a:r>
            <a:endParaRPr lang="en-US" b="1">
              <a:cs typeface="Arial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D6286-6851-6DDB-6D9B-9B02A607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3C4BE-E1DD-7EED-DB71-4D5F3B63E6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dirty="0">
                <a:cs typeface="Arial"/>
              </a:rPr>
              <a:t>What I faced? </a:t>
            </a:r>
            <a:r>
              <a:rPr lang="en-US" b="0" dirty="0">
                <a:ea typeface="+mn-lt"/>
                <a:cs typeface="+mn-lt"/>
              </a:rPr>
              <a:t>🤦‍♂️</a:t>
            </a:r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68C84-B182-4E7D-56FB-01EE4B11DC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dirty="0"/>
              <a:t>What I learnt? </a:t>
            </a:r>
            <a:r>
              <a:rPr lang="en-US" b="0" dirty="0">
                <a:ea typeface="+mn-lt"/>
                <a:cs typeface="+mn-lt"/>
              </a:rPr>
              <a:t>🙇</a:t>
            </a:r>
            <a:endParaRPr lang="en-US" b="0" dirty="0">
              <a:cs typeface="Arial"/>
            </a:endParaRP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F41ED-5729-1B31-0C04-21385523D7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3360" y="3421888"/>
            <a:ext cx="5883656" cy="16624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🚩 Balancing normalization with practical schema design for real-world data flow.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🚩 Debugging tricky triggers for stock and payment validations.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🚩 Designing an ER diagram that’s clear, compact, yet future-proof.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🚩 Managing overlapping logic without breaking relational integrity.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0BD75-0796-C71E-07C4-224B63C0CE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3421888"/>
            <a:ext cx="5883656" cy="16624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📝 Drawing simple, clean, and well-normalized ER diagram.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📝 Writing complex JOINs and nested queries confidently.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📝 Trigger creation and debugging in MySQL.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📝 Real-world approach to automation using events and logs.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📝 Connecting theoretical DBMS design to practical, scalable solutions.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E563-D2B2-A0AD-3574-E8C8FDCE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2382992"/>
            <a:ext cx="2804160" cy="1682749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Future Scope</a:t>
            </a:r>
            <a:endParaRPr lang="en-US" b="1" dirty="0">
              <a:cs typeface="Arial"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83AAE15-CE16-991A-C05F-0BD9741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A819C-8720-05AC-589D-CCF280D381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576" y="1831406"/>
            <a:ext cx="5601074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📌 </a:t>
            </a:r>
            <a:r>
              <a:rPr lang="en-US" dirty="0">
                <a:ea typeface="+mn-lt"/>
                <a:cs typeface="+mn-lt"/>
              </a:rPr>
              <a:t>Email Notifications for Critical Alerts</a:t>
            </a:r>
            <a:endParaRPr lang="en-US">
              <a:cs typeface="Arial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D3C290-A56C-B087-9C47-005A3BC3E1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576" y="2325491"/>
            <a:ext cx="5159336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📌 </a:t>
            </a:r>
            <a:r>
              <a:rPr lang="en-US" dirty="0">
                <a:ea typeface="+mn-lt"/>
                <a:cs typeface="+mn-lt"/>
              </a:rPr>
              <a:t>Advanced Analytics Dashboard</a:t>
            </a:r>
            <a:endParaRPr lang="en-US" dirty="0">
              <a:cs typeface="Arial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047A6BF-476B-7D5D-EE4E-C50B34AFE8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7576" y="2808490"/>
            <a:ext cx="5601074" cy="4905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📌 </a:t>
            </a:r>
            <a:r>
              <a:rPr lang="en-US" dirty="0">
                <a:ea typeface="+mn-lt"/>
                <a:cs typeface="+mn-lt"/>
              </a:rPr>
              <a:t>Real-time Inventory Synchronization</a:t>
            </a:r>
            <a:endParaRPr lang="en-US"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334E0263-BBE3-BADE-26AB-85099A36695C}"/>
              </a:ext>
            </a:extLst>
          </p:cNvPr>
          <p:cNvSpPr txBox="1">
            <a:spLocks/>
          </p:cNvSpPr>
          <p:nvPr/>
        </p:nvSpPr>
        <p:spPr>
          <a:xfrm>
            <a:off x="417576" y="3307654"/>
            <a:ext cx="5159336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ea typeface="+mn-lt"/>
                <a:cs typeface="+mn-lt"/>
              </a:rPr>
              <a:t>📌 </a:t>
            </a:r>
            <a:r>
              <a:rPr lang="en-US" dirty="0">
                <a:ea typeface="+mn-lt"/>
                <a:cs typeface="+mn-lt"/>
              </a:rPr>
              <a:t>Delivery &amp; Shipment Integration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F4A42AA1-7E21-6DBD-46BD-BBE5E91A20F5}"/>
              </a:ext>
            </a:extLst>
          </p:cNvPr>
          <p:cNvSpPr txBox="1">
            <a:spLocks/>
          </p:cNvSpPr>
          <p:nvPr/>
        </p:nvSpPr>
        <p:spPr>
          <a:xfrm>
            <a:off x="417575" y="3791800"/>
            <a:ext cx="6432428" cy="4194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📌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Loyalty Programs and Personalized Offers</a:t>
            </a:r>
            <a:endParaRPr lang="en-US" dirty="0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46FC51FE-5CF0-1F47-AE32-53ABAF9F25AE}"/>
              </a:ext>
            </a:extLst>
          </p:cNvPr>
          <p:cNvSpPr txBox="1">
            <a:spLocks/>
          </p:cNvSpPr>
          <p:nvPr/>
        </p:nvSpPr>
        <p:spPr>
          <a:xfrm>
            <a:off x="417574" y="4297592"/>
            <a:ext cx="6788912" cy="490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📌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 GUI for intuitive interaction</a:t>
            </a:r>
            <a:endParaRPr lang="en-US" dirty="0" err="1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D25297-06BB-90B6-0534-A52311C2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92" y="-648895"/>
            <a:ext cx="5089116" cy="214911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b="1" dirty="0">
                <a:solidFill>
                  <a:schemeClr val="tx1"/>
                </a:solidFill>
              </a:rPr>
              <a:t>BIBLIOGRAPHY</a:t>
            </a:r>
            <a:endParaRPr lang="en-US" sz="5000" b="1">
              <a:solidFill>
                <a:schemeClr val="tx1"/>
              </a:solidFill>
              <a:cs typeface="Arial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41E0DD-1BA7-47EA-92C1-DFCD469D0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5797" y="0"/>
            <a:ext cx="4195674" cy="2553552"/>
          </a:xfrm>
          <a:custGeom>
            <a:avLst/>
            <a:gdLst>
              <a:gd name="connsiteX0" fmla="*/ 51087 w 4195674"/>
              <a:gd name="connsiteY0" fmla="*/ 0 h 2553552"/>
              <a:gd name="connsiteX1" fmla="*/ 4144587 w 4195674"/>
              <a:gd name="connsiteY1" fmla="*/ 0 h 2553552"/>
              <a:gd name="connsiteX2" fmla="*/ 4153054 w 4195674"/>
              <a:gd name="connsiteY2" fmla="*/ 32928 h 2553552"/>
              <a:gd name="connsiteX3" fmla="*/ 4195674 w 4195674"/>
              <a:gd name="connsiteY3" fmla="*/ 455715 h 2553552"/>
              <a:gd name="connsiteX4" fmla="*/ 2097837 w 4195674"/>
              <a:gd name="connsiteY4" fmla="*/ 2553552 h 2553552"/>
              <a:gd name="connsiteX5" fmla="*/ 0 w 4195674"/>
              <a:gd name="connsiteY5" fmla="*/ 455715 h 2553552"/>
              <a:gd name="connsiteX6" fmla="*/ 42621 w 4195674"/>
              <a:gd name="connsiteY6" fmla="*/ 32928 h 255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5674" h="2553552">
                <a:moveTo>
                  <a:pt x="51087" y="0"/>
                </a:moveTo>
                <a:lnTo>
                  <a:pt x="4144587" y="0"/>
                </a:lnTo>
                <a:lnTo>
                  <a:pt x="4153054" y="32928"/>
                </a:lnTo>
                <a:cubicBezTo>
                  <a:pt x="4180999" y="169492"/>
                  <a:pt x="4195674" y="310890"/>
                  <a:pt x="4195674" y="455715"/>
                </a:cubicBezTo>
                <a:cubicBezTo>
                  <a:pt x="4195674" y="1614318"/>
                  <a:pt x="3256440" y="2553552"/>
                  <a:pt x="2097837" y="2553552"/>
                </a:cubicBezTo>
                <a:cubicBezTo>
                  <a:pt x="939234" y="2553552"/>
                  <a:pt x="0" y="1614318"/>
                  <a:pt x="0" y="455715"/>
                </a:cubicBezTo>
                <a:cubicBezTo>
                  <a:pt x="0" y="310890"/>
                  <a:pt x="14676" y="169492"/>
                  <a:pt x="42621" y="3292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logo with a dolphin&#10;&#10;AI-generated content may be incorrect.">
            <a:extLst>
              <a:ext uri="{FF2B5EF4-FFF2-40B4-BE49-F238E27FC236}">
                <a16:creationId xmlns:a16="http://schemas.microsoft.com/office/drawing/2014/main" id="{86B53965-9C9B-CA77-652A-6D83EBF15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49" y="-125531"/>
            <a:ext cx="2266369" cy="2234173"/>
          </a:xfrm>
          <a:prstGeom prst="rect">
            <a:avLst/>
          </a:prstGeom>
        </p:spPr>
      </p:pic>
      <p:sp>
        <p:nvSpPr>
          <p:cNvPr id="1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148" y="987117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D3BEFDA-0C8B-4C24-AF49-B7E58C98D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56811"/>
            <a:ext cx="4507268" cy="4101189"/>
          </a:xfrm>
          <a:custGeom>
            <a:avLst/>
            <a:gdLst>
              <a:gd name="connsiteX0" fmla="*/ 1188901 w 4507268"/>
              <a:gd name="connsiteY0" fmla="*/ 0 h 4101189"/>
              <a:gd name="connsiteX1" fmla="*/ 4507268 w 4507268"/>
              <a:gd name="connsiteY1" fmla="*/ 3318367 h 4101189"/>
              <a:gd name="connsiteX2" fmla="*/ 4439851 w 4507268"/>
              <a:gd name="connsiteY2" fmla="*/ 3987135 h 4101189"/>
              <a:gd name="connsiteX3" fmla="*/ 4410525 w 4507268"/>
              <a:gd name="connsiteY3" fmla="*/ 4101189 h 4101189"/>
              <a:gd name="connsiteX4" fmla="*/ 0 w 4507268"/>
              <a:gd name="connsiteY4" fmla="*/ 4101189 h 4101189"/>
              <a:gd name="connsiteX5" fmla="*/ 0 w 4507268"/>
              <a:gd name="connsiteY5" fmla="*/ 221283 h 4101189"/>
              <a:gd name="connsiteX6" fmla="*/ 47936 w 4507268"/>
              <a:gd name="connsiteY6" fmla="*/ 201358 h 4101189"/>
              <a:gd name="connsiteX7" fmla="*/ 1188901 w 4507268"/>
              <a:gd name="connsiteY7" fmla="*/ 0 h 4101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7268" h="4101189">
                <a:moveTo>
                  <a:pt x="1188901" y="0"/>
                </a:moveTo>
                <a:cubicBezTo>
                  <a:pt x="3021585" y="0"/>
                  <a:pt x="4507268" y="1485684"/>
                  <a:pt x="4507268" y="3318367"/>
                </a:cubicBezTo>
                <a:cubicBezTo>
                  <a:pt x="4507268" y="3547453"/>
                  <a:pt x="4484055" y="3771117"/>
                  <a:pt x="4439851" y="3987135"/>
                </a:cubicBezTo>
                <a:lnTo>
                  <a:pt x="4410525" y="4101189"/>
                </a:lnTo>
                <a:lnTo>
                  <a:pt x="0" y="4101189"/>
                </a:lnTo>
                <a:lnTo>
                  <a:pt x="0" y="221283"/>
                </a:lnTo>
                <a:lnTo>
                  <a:pt x="47936" y="201358"/>
                </a:lnTo>
                <a:cubicBezTo>
                  <a:pt x="403707" y="71093"/>
                  <a:pt x="788002" y="0"/>
                  <a:pt x="118890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400EEA6-B330-4DBC-A821-469627E96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0123" y="1601385"/>
            <a:ext cx="2754831" cy="2754831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7278" y="4908805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51" y="5775084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5F9DB-59A6-4527-EE27-719C74B04D82}"/>
              </a:ext>
            </a:extLst>
          </p:cNvPr>
          <p:cNvSpPr txBox="1"/>
          <p:nvPr/>
        </p:nvSpPr>
        <p:spPr>
          <a:xfrm>
            <a:off x="6676524" y="1971241"/>
            <a:ext cx="4906665" cy="29138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ea typeface="+mn-lt"/>
                <a:cs typeface="+mn-lt"/>
              </a:rPr>
              <a:t>🔥 </a:t>
            </a:r>
            <a:r>
              <a:rPr lang="en-US" sz="2000" b="1" dirty="0"/>
              <a:t>Database System Concepts 7th </a:t>
            </a:r>
            <a:r>
              <a:rPr lang="en-US" sz="2000" b="1"/>
              <a:t>Ed</a:t>
            </a:r>
            <a:endParaRPr lang="en-US" sz="2000"/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(for learning concepts)</a:t>
            </a:r>
            <a:endParaRPr lang="en-US" sz="2000" dirty="0">
              <a:cs typeface="Arial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000" b="1" dirty="0">
              <a:ea typeface="+mn-lt"/>
              <a:cs typeface="+mn-lt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ea typeface="+mn-lt"/>
                <a:cs typeface="+mn-lt"/>
              </a:rPr>
              <a:t>🔥 </a:t>
            </a:r>
            <a:r>
              <a:rPr lang="en-US" sz="2000" b="1"/>
              <a:t>MySQL</a:t>
            </a:r>
            <a:endParaRPr lang="en-US"/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(for scripting and querying </a:t>
            </a:r>
            <a:r>
              <a:rPr lang="en-US" sz="2000" dirty="0"/>
              <a:t>DB)</a:t>
            </a:r>
            <a:endParaRPr lang="en-US">
              <a:cs typeface="Arial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000" b="1" dirty="0">
              <a:ea typeface="+mn-lt"/>
              <a:cs typeface="+mn-lt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ea typeface="+mn-lt"/>
                <a:cs typeface="+mn-lt"/>
              </a:rPr>
              <a:t>🔥 </a:t>
            </a:r>
            <a:r>
              <a:rPr lang="en-US" sz="2000" b="1"/>
              <a:t>ChatGPT</a:t>
            </a:r>
            <a:endParaRPr lang="en-US" sz="2000"/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(for data strips)</a:t>
            </a:r>
            <a:endParaRPr lang="en-US" sz="2000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E505D3-73DC-D5D4-5B2D-708E954B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pic>
        <p:nvPicPr>
          <p:cNvPr id="6" name="Picture 5" descr="A white and blue logo&#10;&#10;AI-generated content may be incorrect.">
            <a:extLst>
              <a:ext uri="{FF2B5EF4-FFF2-40B4-BE49-F238E27FC236}">
                <a16:creationId xmlns:a16="http://schemas.microsoft.com/office/drawing/2014/main" id="{B5242B76-917C-9008-537A-416BEDF1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22" y="3611805"/>
            <a:ext cx="2947495" cy="3024080"/>
          </a:xfrm>
          <a:prstGeom prst="rect">
            <a:avLst/>
          </a:prstGeom>
        </p:spPr>
      </p:pic>
      <p:pic>
        <p:nvPicPr>
          <p:cNvPr id="7" name="Picture 6" descr="A book cover of a sailboat&#10;&#10;AI-generated content may be incorrect.">
            <a:extLst>
              <a:ext uri="{FF2B5EF4-FFF2-40B4-BE49-F238E27FC236}">
                <a16:creationId xmlns:a16="http://schemas.microsoft.com/office/drawing/2014/main" id="{99C91103-AA64-A104-C79A-C76B3FC55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872" y="1883051"/>
            <a:ext cx="1595328" cy="221296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AE708C-DA90-AB0E-58CF-C7A79850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noProof="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70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92134-58D1-958D-8B34-F2AFE372CE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5000" b="1" dirty="0">
                <a:cs typeface="Arial"/>
              </a:rPr>
              <a:t>CONCLUSION</a:t>
            </a:r>
            <a:br>
              <a:rPr lang="en-US" sz="5000" b="1" dirty="0">
                <a:cs typeface="Arial"/>
              </a:rPr>
            </a:br>
            <a:endParaRPr lang="en-US" sz="5000" b="1" dirty="0"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DF78D-159D-098F-5DEB-5A552C62D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8955" y="2938184"/>
            <a:ext cx="7838660" cy="169822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ea typeface="+mn-lt"/>
                <a:cs typeface="+mn-lt"/>
              </a:rPr>
              <a:t>☝️ </a:t>
            </a:r>
            <a:r>
              <a:rPr lang="en-US" dirty="0">
                <a:ea typeface="+mn-lt"/>
                <a:cs typeface="+mn-lt"/>
              </a:rPr>
              <a:t>Simple ER diagram drawn, solid SQL schema foundation established — ready to scale with future features.</a:t>
            </a:r>
            <a:endParaRPr lang="en-US" dirty="0">
              <a:cs typeface="Arial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0" dirty="0">
                <a:ea typeface="+mn-lt"/>
                <a:cs typeface="+mn-lt"/>
              </a:rPr>
              <a:t>☝️ </a:t>
            </a:r>
            <a:r>
              <a:rPr lang="en-US" dirty="0">
                <a:ea typeface="+mn-lt"/>
                <a:cs typeface="+mn-lt"/>
              </a:rPr>
              <a:t>Designed a clean, normalized database that handles everything from customers to payments.</a:t>
            </a:r>
            <a:endParaRPr lang="en-US">
              <a:cs typeface="Arial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0" dirty="0">
                <a:ea typeface="+mn-lt"/>
                <a:cs typeface="+mn-lt"/>
              </a:rPr>
              <a:t>☝️ </a:t>
            </a:r>
            <a:r>
              <a:rPr lang="en-US" dirty="0">
                <a:ea typeface="+mn-lt"/>
                <a:cs typeface="+mn-lt"/>
              </a:rPr>
              <a:t>Covered all real-world essentials like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order tracking, stock updates, and reviews.</a:t>
            </a:r>
            <a:endParaRPr lang="en-US"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2494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500" b="1" dirty="0"/>
              <a:t>THANK</a:t>
            </a:r>
            <a:br>
              <a:rPr lang="en-US" sz="7500" b="1" dirty="0">
                <a:cs typeface="Arial"/>
              </a:rPr>
            </a:br>
            <a:r>
              <a:rPr lang="en-US" sz="7500" b="1" dirty="0">
                <a:cs typeface="Arial"/>
              </a:rPr>
              <a:t>YOU</a:t>
            </a:r>
            <a:endParaRPr lang="en-US" sz="7500" b="1" dirty="0">
              <a:solidFill>
                <a:srgbClr val="001D35"/>
              </a:solidFill>
              <a:ea typeface="+mj-lt"/>
              <a:cs typeface="+mj-lt"/>
            </a:endParaRPr>
          </a:p>
        </p:txBody>
      </p:sp>
      <p:pic>
        <p:nvPicPr>
          <p:cNvPr id="5" name="Picture 4" descr="A cartoon of a person with green hair&#10;&#10;AI-generated content may be incorrect.">
            <a:extLst>
              <a:ext uri="{FF2B5EF4-FFF2-40B4-BE49-F238E27FC236}">
                <a16:creationId xmlns:a16="http://schemas.microsoft.com/office/drawing/2014/main" id="{5168A733-F9EC-CD2F-E6B4-53436C1B1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882" y="1497660"/>
            <a:ext cx="818586" cy="1560423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A34E14-4610-E766-F481-F49FD24DB8EF}"/>
              </a:ext>
            </a:extLst>
          </p:cNvPr>
          <p:cNvSpPr txBox="1">
            <a:spLocks/>
          </p:cNvSpPr>
          <p:nvPr/>
        </p:nvSpPr>
        <p:spPr>
          <a:xfrm>
            <a:off x="4536005" y="4165854"/>
            <a:ext cx="7938298" cy="2057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FFFFFF"/>
                </a:solidFill>
              </a:rPr>
              <a:t>For queries reach me at: </a:t>
            </a:r>
            <a:r>
              <a:rPr lang="en-US" dirty="0"/>
              <a:t>prodiptodebsarma</a:t>
            </a:r>
            <a:r>
              <a:rPr lang="en-US" dirty="0">
                <a:solidFill>
                  <a:schemeClr val="tx1"/>
                </a:solidFill>
              </a:rPr>
              <a:t>@gmail.com</a:t>
            </a:r>
            <a:endParaRPr lang="en-US" dirty="0">
              <a:solidFill>
                <a:schemeClr val="tx1"/>
              </a:solidFill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1F98F7-6576-47F1-AD63-56E26C3397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597</Words>
  <Application>Microsoft Office PowerPoint</Application>
  <PresentationFormat>Widescreen</PresentationFormat>
  <Paragraphs>123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ONLINE bookstore DATABASE</vt:lpstr>
      <vt:lpstr>Project Purpose</vt:lpstr>
      <vt:lpstr>Problem Statement  </vt:lpstr>
      <vt:lpstr>PROPOSED SOLUTIONS</vt:lpstr>
      <vt:lpstr>Entity-Relationship Diagram</vt:lpstr>
      <vt:lpstr>KEY TABLES</vt:lpstr>
      <vt:lpstr>Special Features</vt:lpstr>
      <vt:lpstr>Sample SQL Queries </vt:lpstr>
      <vt:lpstr>Retrieve Books in "Fiction" Category That Are In Stock</vt:lpstr>
      <vt:lpstr>Top 3 Best-Selling Books of the Year</vt:lpstr>
      <vt:lpstr>Books with No Purchases</vt:lpstr>
      <vt:lpstr>Total Revenue per Book Category</vt:lpstr>
      <vt:lpstr>Average rating of books with at least 10 reviews</vt:lpstr>
      <vt:lpstr>Orders that include at least one book from the 'Science &amp; Technology' category</vt:lpstr>
      <vt:lpstr>Pending orders with customer contact </vt:lpstr>
      <vt:lpstr>Automation &amp; Data Integrity</vt:lpstr>
      <vt:lpstr>Challenges &amp; Learnings</vt:lpstr>
      <vt:lpstr>Future Scope</vt:lpstr>
      <vt:lpstr>BIBLIOGRAPHY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Prodipto Debsarma</cp:lastModifiedBy>
  <cp:revision>1018</cp:revision>
  <dcterms:created xsi:type="dcterms:W3CDTF">2025-04-22T19:16:06Z</dcterms:created>
  <dcterms:modified xsi:type="dcterms:W3CDTF">2025-04-23T18:57:29Z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